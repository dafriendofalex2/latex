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1F33"/>
                </a:solidFill>
              </a:rPr>
              <a:t>AI Bubble Unwind Stress Model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21792" y="16916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86675"/>
                </a:solidFill>
              </a:rPr>
              <a:t>Theory construction for senior management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" y="2148840"/>
            <a:ext cx="10881360" cy="0"/>
          </a:xfrm>
          <a:prstGeom prst="line">
            <a:avLst/>
          </a:prstGeom>
          <a:noFill/>
          <a:ln w="12700">
            <a:solidFill>
              <a:srgbClr val="1E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743200"/>
            <a:ext cx="10744200" cy="822960"/>
          </a:xfrm>
          <a:prstGeom prst="rect">
            <a:avLst/>
          </a:prstGeom>
          <a:solidFill>
            <a:srgbClr val="F0F6FF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Core idea: separate broad-market stress from AI/TMT-excess stress, then add targeted overlays for single stocks and market cap.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3794760"/>
            <a:ext cx="10744200" cy="685800"/>
          </a:xfrm>
          <a:prstGeom prst="rect">
            <a:avLst/>
          </a:prstGeom>
          <a:solidFill>
            <a:srgbClr val="F7F9FC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Output: implementable stress vectors by country × industry × market-cap bucket, plus single-stock overrides.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6675"/>
                </a:solidFill>
              </a:rPr>
              <a:t>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management needs to understand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theory is a linked chain, not a collection of ad hoc shocks.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566928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first separates the market shock from the AI-specific excess shock.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then measures which countries, industries, and stocks are exposed to each leg.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Dot-com history calibrates the shock size by horizon and scenario.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Market-cap and single-stock layers make the output usable on actual positions.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29400" y="1828800"/>
            <a:ext cx="4800600" cy="1143000"/>
          </a:xfrm>
          <a:prstGeom prst="rect">
            <a:avLst/>
          </a:prstGeom>
          <a:solidFill>
            <a:srgbClr val="F7F9FC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stress = market leg + AI/TMT-excess leg + targeted overlays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20840" y="32918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How the presentation builds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720840" y="3566160"/>
            <a:ext cx="448056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12B"/>
                </a:solidFill>
              </a:rPr>
              <a:t>1 = define the two factors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212B"/>
                </a:solidFill>
              </a:rPr>
              <a:t>2 = orthogonalize AI from the market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212B"/>
                </a:solidFill>
              </a:rPr>
              <a:t>3 = estimate exposures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212B"/>
                </a:solidFill>
              </a:rPr>
              <a:t>4 = calibrate scenarios from dot-com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212B"/>
                </a:solidFill>
              </a:rPr>
              <a:t>5 = add market-cap and single-stock overlays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212B"/>
                </a:solidFill>
              </a:rPr>
              <a:t>6 = produce stress vectors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016752"/>
            <a:ext cx="1106424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7D4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Every later component only exists because the previous step created a clean quantity to shock.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keeps data, exposure estimation, calibration, and overlays separate.</a:t>
            </a:r>
            <a:endParaRPr lang="en-US" sz="1150" dirty="0"/>
          </a:p>
        </p:txBody>
      </p:sp>
      <p:pic>
        <p:nvPicPr>
          <p:cNvPr id="6" name="Image 0" descr="/mnt/data/theory_deck_senior_mgmt/01_model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6508" y="1051560"/>
            <a:ext cx="9754225" cy="4800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051560"/>
            <a:ext cx="11384280" cy="4800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016752"/>
            <a:ext cx="1106424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7D4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This separation is what makes the model explainable and auditable.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map for the full model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later formula uses these labels.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10881360" cy="777240"/>
          </a:xfrm>
          <a:prstGeom prst="rect">
            <a:avLst/>
          </a:prstGeom>
          <a:solidFill>
            <a:srgbClr val="F7F9FC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S[j,m,h,s] = betaW[j] · M[h,s] + IAI[j] · A[h,s] + Psize[m,h,s]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Variable labels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530352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j = country-industry bucket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b = country bucket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g = industry bucket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i = single stock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m = market-cap bucket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h = stress horizon: 1w, 2w, 1m, 2m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s = scenario: mild, base, severe, extreme, worst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63640" y="233172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 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63640" y="2606040"/>
            <a:ext cx="530352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S[j,m,h,s] = final log stress return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betaW[j] = broad-market beta of bucket j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M[h,s] = broad-market scenario shock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IAI[j] = final AI-excess intensity of bucket j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A[h,s] = AI/TMT-excess scenario shock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Psize[m,h,s] = market-cap overlay penalty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6016752"/>
            <a:ext cx="1106424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7D4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The model is additive in log-return space, so each risk component has a clear interpretation.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map: what each dataset does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does not ask one data source to answer every question.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2240280" cy="292608"/>
          </a:xfrm>
          <a:prstGeom prst="rect">
            <a:avLst/>
          </a:prstGeom>
          <a:solidFill>
            <a:srgbClr val="1E5AA8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block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143000"/>
            <a:ext cx="3154680" cy="292608"/>
          </a:xfrm>
          <a:prstGeom prst="rect">
            <a:avLst/>
          </a:prstGeom>
          <a:solidFill>
            <a:srgbClr val="1E5AA8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Examples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97880" y="1143000"/>
            <a:ext cx="5532120" cy="292608"/>
          </a:xfrm>
          <a:prstGeom prst="rect">
            <a:avLst/>
          </a:prstGeom>
          <a:solidFill>
            <a:srgbClr val="1E5AA8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role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90472"/>
            <a:ext cx="2240280" cy="585216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Current AI ETFs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0" y="1490472"/>
            <a:ext cx="3154680" cy="585216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</a:rPr>
              <a:t>SMH, SOXX, IGV, SKYY, AIQ, IXN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5897880" y="1490472"/>
            <a:ext cx="5532120" cy="585216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</a:rPr>
              <a:t>Build AI basket; estimate current AI factor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502920" y="2148840"/>
            <a:ext cx="2240280" cy="585216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Broad market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0" y="2148840"/>
            <a:ext cx="3154680" cy="585216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</a:rPr>
              <a:t>S&amp;P 500, world / broad ETF proxies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5897880" y="2148840"/>
            <a:ext cx="5532120" cy="585216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</a:rPr>
              <a:t>Define market leg and world beta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502920" y="2807208"/>
            <a:ext cx="2240280" cy="585216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Country / industry data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0" y="2807208"/>
            <a:ext cx="3154680" cy="585216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</a:rPr>
              <a:t>Country ETFs; FF49 / sector proxies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5897880" y="2807208"/>
            <a:ext cx="5532120" cy="585216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</a:rPr>
              <a:t>Estimate country-industry exposures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502920" y="3465576"/>
            <a:ext cx="2240280" cy="585216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Dot-com history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0" y="3465576"/>
            <a:ext cx="3154680" cy="585216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</a:rPr>
              <a:t>NASDAQ / TMT returns around 2000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5897880" y="3465576"/>
            <a:ext cx="5532120" cy="585216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</a:rPr>
              <a:t>Calibrate shock magnitude and timing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502920" y="4123944"/>
            <a:ext cx="2240280" cy="585216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Size portfolios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0" y="4123944"/>
            <a:ext cx="3154680" cy="585216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</a:rPr>
              <a:t>Fama-French market-equity buckets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5897880" y="4123944"/>
            <a:ext cx="5532120" cy="585216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</a:rPr>
              <a:t>Calibrate market-cap overlay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502920" y="4782312"/>
            <a:ext cx="2240280" cy="585216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Position metadata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0" y="4782312"/>
            <a:ext cx="3154680" cy="585216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</a:rPr>
              <a:t>country, industry, ticker, market cap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5897880" y="4782312"/>
            <a:ext cx="5532120" cy="585216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</a:rPr>
              <a:t>Choose correct stress row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566928" y="6016752"/>
            <a:ext cx="1106424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7D4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Data is organized by function: measurement, calibration, overlay, and implementation.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define the two forces in an AI unwind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bubble burst is an equity selloff plus an AI-specific re-rating.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2148840" cy="292608"/>
          </a:xfrm>
          <a:prstGeom prst="rect">
            <a:avLst/>
          </a:prstGeom>
          <a:solidFill>
            <a:srgbClr val="1E5AA8"/>
          </a:solidFill>
          <a:ln>
            <a:solidFill>
              <a:srgbClr val="1E5AA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1155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Split raw AI movement into market-driven and AI-excess pieces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5760720" cy="685800"/>
          </a:xfrm>
          <a:prstGeom prst="rect">
            <a:avLst/>
          </a:prstGeom>
          <a:solidFill>
            <a:srgbClr val="F7F9FC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rAI[t] = alphaAI + thetaWAI · rW[t] + xAI[t]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Variable labels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539496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12B"/>
                </a:solidFill>
              </a:rPr>
              <a:t>rAI[t] = return of AI basket at time t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7212B"/>
                </a:solidFill>
              </a:rPr>
              <a:t>rW[t] = broad world market return at time t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7212B"/>
                </a:solidFill>
              </a:rPr>
              <a:t>thetaWAI = AI basket loading on the world market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7212B"/>
                </a:solidFill>
              </a:rPr>
              <a:t>xAI[t] = residual AI-excess return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7212B"/>
                </a:solidFill>
              </a:rPr>
              <a:t>alphaAI = intercept of the AI-on-world regression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6812280" y="1600200"/>
            <a:ext cx="4526280" cy="1508760"/>
          </a:xfrm>
          <a:prstGeom prst="rect">
            <a:avLst/>
          </a:prstGeom>
          <a:solidFill>
            <a:srgbClr val="F0F6FF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Why this matters: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Raw AI returns include general market moves. The model only wants the part of AI movement that remains after removing the broad market.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12280" y="3383280"/>
            <a:ext cx="4526280" cy="1325880"/>
          </a:xfrm>
          <a:prstGeom prst="rect">
            <a:avLst/>
          </a:prstGeom>
          <a:solidFill>
            <a:srgbClr val="F7F9FC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Financial interpretation: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• Market leg = normal equity selloff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• AI-excess leg = additional TMT / AI de-rating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016752"/>
            <a:ext cx="1106424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7D4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The model starts by isolating the AI-specific component before any country or industry shock is estimated.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orthogonalization is the core theory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residual AI factor is what remains after the market-driven component is removed.</a:t>
            </a:r>
            <a:endParaRPr lang="en-US" sz="1150" dirty="0"/>
          </a:p>
        </p:txBody>
      </p:sp>
      <p:pic>
        <p:nvPicPr>
          <p:cNvPr id="6" name="Image 0" descr="/mnt/data/theory_deck_senior_mgmt/02_orthogonalization_geome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72" y="1024128"/>
            <a:ext cx="6795697" cy="47731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024128"/>
            <a:ext cx="7315200" cy="477316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123444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How to read the chart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92440" y="1508760"/>
            <a:ext cx="352044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12B"/>
                </a:solidFill>
              </a:rPr>
              <a:t>fitted line = AI movement explained by market returns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7212B"/>
                </a:solidFill>
              </a:rPr>
              <a:t>vertical residual = AI-excess return for that month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7212B"/>
                </a:solidFill>
              </a:rPr>
              <a:t>raw correlation = AI basket still moves with broad market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7212B"/>
                </a:solidFill>
              </a:rPr>
              <a:t>residual correlation = near zero after orthogonalization</a:t>
            </a: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8092440" y="4005072"/>
            <a:ext cx="3520440" cy="685800"/>
          </a:xfrm>
          <a:prstGeom prst="rect">
            <a:avLst/>
          </a:prstGeom>
          <a:solidFill>
            <a:srgbClr val="F0F6FF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Statistical result: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Cov(xAI[t], rW[t]) ≈ 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92440" y="4919472"/>
            <a:ext cx="3520440" cy="868680"/>
          </a:xfrm>
          <a:prstGeom prst="rect">
            <a:avLst/>
          </a:prstGeom>
          <a:solidFill>
            <a:srgbClr val="F7F9FC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Business result: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AI-excess is now a cleaner shock leg, not another broad market shock.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" y="6016752"/>
            <a:ext cx="1106424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7D4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Orthogonalization is the step that prevents double-counting the market selloff.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orthogonalization works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forces the AI factor to explain only what the market cannot explain.</a:t>
            </a:r>
            <a:endParaRPr lang="en-US" sz="1150" dirty="0"/>
          </a:p>
        </p:txBody>
      </p:sp>
      <p:pic>
        <p:nvPicPr>
          <p:cNvPr id="6" name="Image 0" descr="/mnt/data/theory_deck_senior_mgmt/03_before_after_residual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4796"/>
            <a:ext cx="6720840" cy="28312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05840"/>
            <a:ext cx="6720840" cy="43891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06640" y="1143000"/>
            <a:ext cx="4251960" cy="658368"/>
          </a:xfrm>
          <a:prstGeom prst="rect">
            <a:avLst/>
          </a:prstGeom>
          <a:solidFill>
            <a:srgbClr val="F7F9FC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xAI[t] = rAI[t] − (alphaAI + thetaWAI · rW[t])</a:t>
            </a:r>
            <a:endParaRPr lang="en-US" sz="1520" dirty="0"/>
          </a:p>
        </p:txBody>
      </p:sp>
      <p:sp>
        <p:nvSpPr>
          <p:cNvPr id="9" name="Text 6"/>
          <p:cNvSpPr/>
          <p:nvPr/>
        </p:nvSpPr>
        <p:spPr>
          <a:xfrm>
            <a:off x="7452360" y="20574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Definitions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52360" y="2331720"/>
            <a:ext cx="411480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7212B"/>
                </a:solidFill>
              </a:rPr>
              <a:t>xAI[t] = residual AI-excess return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7212B"/>
                </a:solidFill>
              </a:rPr>
              <a:t>rAI[t] = raw AI basket return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7212B"/>
                </a:solidFill>
              </a:rPr>
              <a:t>rW[t] = world market return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7212B"/>
                </a:solidFill>
              </a:rPr>
              <a:t>thetaWAI · rW[t] = market-driven part of AI return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7212B"/>
                </a:solidFill>
              </a:rPr>
              <a:t>alphaAI = average residual offset</a:t>
            </a:r>
            <a:endParaRPr lang="en-US" sz="1060" dirty="0"/>
          </a:p>
        </p:txBody>
      </p:sp>
      <p:sp>
        <p:nvSpPr>
          <p:cNvPr id="11" name="Text 8"/>
          <p:cNvSpPr/>
          <p:nvPr/>
        </p:nvSpPr>
        <p:spPr>
          <a:xfrm>
            <a:off x="7452360" y="4572000"/>
            <a:ext cx="4069080" cy="822960"/>
          </a:xfrm>
          <a:prstGeom prst="rect">
            <a:avLst/>
          </a:prstGeom>
          <a:solidFill>
            <a:srgbClr val="F0F6FF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Plain English: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First remove what AI would have done just because the market moved. Then stress only the leftover AI-specific movement.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" y="6016752"/>
            <a:ext cx="1106424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7D4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After this step, the AI-excess shock has a distinct economic meaning.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estimate exposure of each bucket to the two factors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country-industry bucket receives a market beta and an AI-excess loading.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10972800" cy="777240"/>
          </a:xfrm>
          <a:prstGeom prst="rect">
            <a:avLst/>
          </a:prstGeom>
          <a:solidFill>
            <a:srgbClr val="F7F9FC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rj[t] = alphaj + betaW[j] · rW[t] + gammaAI[j] · xAI[t] + epsj[t]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Variable labels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269748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rj[t] = return of country-industry bucket j at time 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j = specific country-industry bucket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betaW[j] = bucket j broad-market beta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gammaAI[j] = bucket j sensitivity to residual AI-excess factor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11880" y="214884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 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11880" y="2423160"/>
            <a:ext cx="269748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xAI[t] = orthogonal AI-excess factor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epsj[t] = unexplained idiosyncratic residual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alphaj = bucket-specific intercept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629400" y="2194560"/>
            <a:ext cx="4434840" cy="804672"/>
          </a:xfrm>
          <a:prstGeom prst="rect">
            <a:avLst/>
          </a:prstGeom>
          <a:solidFill>
            <a:srgbClr val="F0F6FF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Interpretation of betaW[j]: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How much the bucket should move when broad equities sell off.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3246120"/>
            <a:ext cx="4434840" cy="914400"/>
          </a:xfrm>
          <a:prstGeom prst="rect">
            <a:avLst/>
          </a:prstGeom>
          <a:solidFill>
            <a:srgbClr val="F7F9FC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Interpretation of gammaAI[j]: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How much extra the bucket moves when AI / TMT de-rates beyond the market.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4443984"/>
            <a:ext cx="4434840" cy="658368"/>
          </a:xfrm>
          <a:prstGeom prst="rect">
            <a:avLst/>
          </a:prstGeom>
          <a:solidFill>
            <a:srgbClr val="FFF7ED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Because xAI[t] is orthogonal to rW[t], gammaAI[j] is not just another market beta.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6016752"/>
            <a:ext cx="1106424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7D4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The exposure model converts return history into two interpretable loadings.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convert raw sensitivity into AI-excess intensity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residualization removes AI sensitivity that is merely explained by market beta.</a:t>
            </a:r>
            <a:endParaRPr lang="en-US" sz="1150" dirty="0"/>
          </a:p>
        </p:txBody>
      </p:sp>
      <p:pic>
        <p:nvPicPr>
          <p:cNvPr id="6" name="Image 0" descr="/mnt/data/theory_deck_senior_mgmt/05_theta_decom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694" y="1005840"/>
            <a:ext cx="6491013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005840"/>
            <a:ext cx="6766560" cy="4480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52360" y="1078992"/>
            <a:ext cx="4069080" cy="585216"/>
          </a:xfrm>
          <a:prstGeom prst="rect">
            <a:avLst/>
          </a:prstGeom>
          <a:solidFill>
            <a:srgbClr val="F7F9FC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EAI[j] = thetaAI[j] − betaW[j] · thetaWAI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52360" y="1828800"/>
            <a:ext cx="4069080" cy="585216"/>
          </a:xfrm>
          <a:prstGeom prst="rect">
            <a:avLst/>
          </a:prstGeom>
          <a:solidFill>
            <a:srgbClr val="F7F9FC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Istat[j] = EAI[j] / (1 − thetaWAI)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43800" y="265176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Variable labels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543800" y="2926080"/>
            <a:ext cx="388620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7212B"/>
                </a:solidFill>
              </a:rPr>
              <a:t>thetaAI[j] = observed absolute AI sensitivity of bucket j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7212B"/>
                </a:solidFill>
              </a:rPr>
              <a:t>betaW[j] · thetaWAI = AI sensitivity expected from market beta alone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7212B"/>
                </a:solidFill>
              </a:rPr>
              <a:t>EAI[j] = residual AI-excess sensitivity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7212B"/>
                </a:solidFill>
              </a:rPr>
              <a:t>Istat[j] = scaled statistical AI intensity</a:t>
            </a:r>
            <a:endParaRPr lang="en-US" sz="1040" dirty="0"/>
          </a:p>
        </p:txBody>
      </p:sp>
      <p:sp>
        <p:nvSpPr>
          <p:cNvPr id="12" name="Text 9"/>
          <p:cNvSpPr/>
          <p:nvPr/>
        </p:nvSpPr>
        <p:spPr>
          <a:xfrm>
            <a:off x="566928" y="6016752"/>
            <a:ext cx="1106424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7D4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A bucket is treated as AI-exposed only when it has AI sensitivity beyond what its market beta already explains.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combine measured sensitivity with economic relevance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AI intensity is both data-driven and economically sensible.</a:t>
            </a:r>
            <a:endParaRPr lang="en-US" sz="1150" dirty="0"/>
          </a:p>
        </p:txBody>
      </p:sp>
      <p:pic>
        <p:nvPicPr>
          <p:cNvPr id="6" name="Image 0" descr="/mnt/data/theory_deck_senior_mgmt/07_statistical_vs_econo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70" y="1024128"/>
            <a:ext cx="6371300" cy="4434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024128"/>
            <a:ext cx="6629400" cy="4434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60920" y="1143000"/>
            <a:ext cx="4343400" cy="658368"/>
          </a:xfrm>
          <a:prstGeom prst="rect">
            <a:avLst/>
          </a:prstGeom>
          <a:solidFill>
            <a:srgbClr val="F7F9FC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IAI[j] = wstat · Istat[j] + wecon · Iecon[j]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452360" y="205740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Variable labels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52360" y="2331720"/>
            <a:ext cx="406908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12B"/>
                </a:solidFill>
              </a:rPr>
              <a:t>IAI[j] = final AI-excess intensity used in shocks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7212B"/>
                </a:solidFill>
              </a:rPr>
              <a:t>Istat[j] = statistical residual AI intensity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7212B"/>
                </a:solidFill>
              </a:rPr>
              <a:t>Iecon[j] = economic AI relevance score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7212B"/>
                </a:solidFill>
              </a:rPr>
              <a:t>wstat = weight on statistical estimate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7212B"/>
                </a:solidFill>
              </a:rPr>
              <a:t>wecon = weight on economic relevance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7452360" y="4343400"/>
            <a:ext cx="4069080" cy="777240"/>
          </a:xfrm>
          <a:prstGeom prst="rect">
            <a:avLst/>
          </a:prstGeom>
          <a:solidFill>
            <a:srgbClr val="F0F6FF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Why blend?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Return data can be noisy; economic mappings prevent obvious AI-linked sectors from being missed.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" y="6016752"/>
            <a:ext cx="1106424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7D4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The final intensity is not a black-box regression coefficient; it is a governed exposure score.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extend exposure globally through country-industry cells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theory produces shocks for non-U.S. AI supply chains.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530352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is a country-industry cell, e.g., Korea technology hardware or Taiwan semiconductors.</a:t>
            </a:r>
            <a:endParaRPr lang="en-US" sz="1420" dirty="0"/>
          </a:p>
          <a:p>
            <a:r>
              <a:rPr lang="en-US" sz="14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effects capture local market concentration and macro equity sensitivity.</a:t>
            </a:r>
            <a:endParaRPr lang="en-US" sz="1420" dirty="0"/>
          </a:p>
          <a:p>
            <a:r>
              <a:rPr lang="en-US" sz="14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effects capture sector exposure to AI infrastructure, software, and data-center demand.</a:t>
            </a:r>
            <a:endParaRPr lang="en-US" sz="1420" dirty="0"/>
          </a:p>
          <a:p>
            <a:r>
              <a:rPr lang="en-US" sz="14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cell exposure combines both, then applies the same market + AI-excess shock structure.</a:t>
            </a:r>
            <a:endParaRPr lang="en-US" sz="1420" dirty="0"/>
          </a:p>
        </p:txBody>
      </p:sp>
      <p:pic>
        <p:nvPicPr>
          <p:cNvPr id="7" name="Image 0" descr="/mnt/data/theory_deck_senior_mgmt/08_country_industry_exposur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460973"/>
            <a:ext cx="5394960" cy="370745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0" y="1051560"/>
            <a:ext cx="539496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663440"/>
            <a:ext cx="5074920" cy="502920"/>
          </a:xfrm>
          <a:prstGeom prst="rect">
            <a:avLst/>
          </a:prstGeom>
          <a:solidFill>
            <a:srgbClr val="F7F9FC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j = country b × industry 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66928" y="6016752"/>
            <a:ext cx="1106424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7D4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This is why Korea and Taiwan can receive more AI-sensitive shocks than a generic global equity bucket.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7: use dot-com to calibrate the shock size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Dot-com gives a historical technology-bubble anchor, not a mechanical forecast.</a:t>
            </a:r>
            <a:endParaRPr lang="en-US" sz="1150" dirty="0"/>
          </a:p>
        </p:txBody>
      </p:sp>
      <p:pic>
        <p:nvPicPr>
          <p:cNvPr id="6" name="Image 0" descr="/mnt/data/theory_deck_senior_mgmt/08_dotcom_anchor_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00524"/>
            <a:ext cx="5852160" cy="36088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987552"/>
            <a:ext cx="5852160" cy="4434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29400" y="1097280"/>
            <a:ext cx="4709160" cy="530352"/>
          </a:xfrm>
          <a:prstGeom prst="rect">
            <a:avLst/>
          </a:prstGeom>
          <a:solidFill>
            <a:srgbClr val="F7F9FC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M[h] = log(PW[t0+h] / PW[t0])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29400" y="1783080"/>
            <a:ext cx="4709160" cy="530352"/>
          </a:xfrm>
          <a:prstGeom prst="rect">
            <a:avLst/>
          </a:prstGeom>
          <a:solidFill>
            <a:srgbClr val="F7F9FC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A[h] = log(PTMT[t0+h] / PTMT[t0]) − M[h]</a:t>
            </a:r>
            <a:endParaRPr lang="en-US" sz="1420" dirty="0"/>
          </a:p>
        </p:txBody>
      </p:sp>
      <p:sp>
        <p:nvSpPr>
          <p:cNvPr id="10" name="Text 7"/>
          <p:cNvSpPr/>
          <p:nvPr/>
        </p:nvSpPr>
        <p:spPr>
          <a:xfrm>
            <a:off x="6720840" y="2606040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Variable labels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720840" y="2880360"/>
            <a:ext cx="44348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7212B"/>
                </a:solidFill>
              </a:rPr>
              <a:t>t0 = dot-com TMT peak date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7212B"/>
                </a:solidFill>
              </a:rPr>
              <a:t>h = horizon: 1w, 2w, 1m, 2m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7212B"/>
                </a:solidFill>
              </a:rPr>
              <a:t>PW = broad market price index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7212B"/>
                </a:solidFill>
              </a:rPr>
              <a:t>PTMT = dot-com TMT / technology proxy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7212B"/>
                </a:solidFill>
              </a:rPr>
              <a:t>M[h] = market shock over horizon h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7212B"/>
                </a:solidFill>
              </a:rPr>
              <a:t>A[h] = TMT excess shock beyond market</a:t>
            </a:r>
            <a:endParaRPr lang="en-US" sz="1040" dirty="0"/>
          </a:p>
        </p:txBody>
      </p:sp>
      <p:sp>
        <p:nvSpPr>
          <p:cNvPr id="12" name="Text 9"/>
          <p:cNvSpPr/>
          <p:nvPr/>
        </p:nvSpPr>
        <p:spPr>
          <a:xfrm>
            <a:off x="566928" y="6016752"/>
            <a:ext cx="1106424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7D4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The dot-com analogy enters only after the model has already separated the market leg from the AI-excess leg.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8: turn dot-com anchors into a scenario ladder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historical shock can be scaled into mild, base, severe, extreme, and worst cases.</a:t>
            </a:r>
            <a:endParaRPr lang="en-US" sz="1150" dirty="0"/>
          </a:p>
        </p:txBody>
      </p:sp>
      <p:pic>
        <p:nvPicPr>
          <p:cNvPr id="6" name="Image 0" descr="/mnt/data/theory_deck_senior_mgmt/09_scenario_lad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67906"/>
            <a:ext cx="5852160" cy="327413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987552"/>
            <a:ext cx="5852160" cy="4434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0" y="1143000"/>
            <a:ext cx="4480560" cy="502920"/>
          </a:xfrm>
          <a:prstGeom prst="rect">
            <a:avLst/>
          </a:prstGeom>
          <a:solidFill>
            <a:srgbClr val="F7F9FC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M[h,s] = lambda[s] · M[h]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75120" y="1783080"/>
            <a:ext cx="4480560" cy="502920"/>
          </a:xfrm>
          <a:prstGeom prst="rect">
            <a:avLst/>
          </a:prstGeom>
          <a:solidFill>
            <a:srgbClr val="F7F9FC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A[h,s] = kappa[s] · A[h]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48272" y="2542032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Scenario labels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748272" y="2816352"/>
            <a:ext cx="4370832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12B"/>
                </a:solidFill>
              </a:rPr>
              <a:t>M[h,s] = market shock for horizon h and scenario 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12B"/>
                </a:solidFill>
              </a:rPr>
              <a:t>A[h,s] = AI/TMT-excess shock for horizon h and scenario 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12B"/>
                </a:solidFill>
              </a:rPr>
              <a:t>lambda[s] = market-leg severity scalar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12B"/>
                </a:solidFill>
              </a:rPr>
              <a:t>kappa[s] = AI-excess severity scalar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12B"/>
                </a:solidFill>
              </a:rPr>
              <a:t>extreme = kappa = 1.5 in revised ladder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12B"/>
                </a:solidFill>
              </a:rPr>
              <a:t>worst = kappa = 2.0 in revised ladder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566928" y="6016752"/>
            <a:ext cx="1106424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7D4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The scenario ladder changes shock severity without changing the model structure.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9: production formula for country-industry shocks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formula links exposure estimates to scenario calibration.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1188720"/>
            <a:ext cx="10881360" cy="777240"/>
          </a:xfrm>
          <a:prstGeom prst="rect">
            <a:avLst/>
          </a:prstGeom>
          <a:solidFill>
            <a:srgbClr val="F7F9FC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SCI[j,h,s] = betaW[j] · M[h,s] + IAI[j] · A[h,s]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Variable labels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1089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SCI[j,h,s] = country-industry log stress before cap overlay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j = country-industry bucket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h = horizon: 1w, 2w, 1m, 2m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s = scenario: mild/base/severe/extreme/worst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69080" y="23317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 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69080" y="2606040"/>
            <a:ext cx="31089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betaW[j] = broad-market beta for bucket j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M[h,s] = broad-market scenario shock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IAI[j] = final AI-excess intensity for bucket j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A[h,s] = AI/TMT-excess scenario shock</a:t>
            </a:r>
            <a:endParaRPr lang="en-US" sz="1050" dirty="0"/>
          </a:p>
        </p:txBody>
      </p:sp>
      <p:pic>
        <p:nvPicPr>
          <p:cNvPr id="11" name="Image 0" descr="/mnt/data/theory_deck_senior_mgmt/10_2m_decom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2228008"/>
            <a:ext cx="3977640" cy="2356263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452360" y="2148840"/>
            <a:ext cx="3977640" cy="2514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2360" y="4892040"/>
            <a:ext cx="3977640" cy="868680"/>
          </a:xfrm>
          <a:prstGeom prst="rect">
            <a:avLst/>
          </a:prstGeom>
          <a:solidFill>
            <a:srgbClr val="F0F6FF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Reading the formula: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• market leg = betaW × 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• AI leg = IAI ×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• total = sum in log space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6928" y="6016752"/>
            <a:ext cx="1106424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7D4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The shock is not arbitrary: it is exposure × calibrated scenario, component by component.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10: market-cap penalty is an overlay, not a replacement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Small-cap names are penalized for fragility and liquidity risk on top of factor stress.</a:t>
            </a:r>
            <a:endParaRPr lang="en-US" sz="1150" dirty="0"/>
          </a:p>
        </p:txBody>
      </p:sp>
      <p:pic>
        <p:nvPicPr>
          <p:cNvPr id="6" name="Image 0" descr="/mnt/data/theory_deck_senior_mgmt/16_market_cap_overlay_wor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64068"/>
            <a:ext cx="6035040" cy="36726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" y="1005840"/>
            <a:ext cx="6035040" cy="43891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76288" y="1143000"/>
            <a:ext cx="4434840" cy="640080"/>
          </a:xfrm>
          <a:prstGeom prst="rect">
            <a:avLst/>
          </a:prstGeom>
          <a:solidFill>
            <a:srgbClr val="F7F9FC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S[j,m,h,s] = SCI[j,h,s] + Psize[m,h,s]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67728" y="21488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Variable labels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967728" y="2423160"/>
            <a:ext cx="420624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</a:rPr>
              <a:t>S[j,m,h,s] = final log stress after market-cap overlay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</a:rPr>
              <a:t>SCI[j,h,s] = country-industry shock before cap overlay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</a:rPr>
              <a:t>m = market-cap bucket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</a:rPr>
              <a:t>Psize[m,h,s] = size overlay penalty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</a:rPr>
              <a:t>large/mega bucket = reference bucket, no overlay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7212B"/>
                </a:solidFill>
              </a:rPr>
              <a:t>smaller buckets = receive additional downside</a:t>
            </a:r>
            <a:endParaRPr lang="en-US" sz="1030" dirty="0"/>
          </a:p>
        </p:txBody>
      </p:sp>
      <p:sp>
        <p:nvSpPr>
          <p:cNvPr id="11" name="Text 8"/>
          <p:cNvSpPr/>
          <p:nvPr/>
        </p:nvSpPr>
        <p:spPr>
          <a:xfrm>
            <a:off x="566928" y="6016752"/>
            <a:ext cx="1106424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7D4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Large caps are unchanged; smaller names become more severe because the overlay is added after the factor shock.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11: single-stock override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AI epicentre names should not be averaged away inside broad industry buckets.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10972800" cy="713232"/>
          </a:xfrm>
          <a:prstGeom prst="rect">
            <a:avLst/>
          </a:prstGeom>
          <a:solidFill>
            <a:srgbClr val="F7F9FC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SS[i,h,s] = betaWstock[i] · M[h,s] + IAIstock[i] · A[h,s]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25374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Variable labels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253746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SS[i,h,s] = single-stock log stress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i = specific stock ticker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betaWstock[i] = stock-level world beta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IAIstock[i] = stock-level AI-excess intensity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97580" y="2148840"/>
            <a:ext cx="25374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 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97580" y="2423160"/>
            <a:ext cx="253746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M[h,s] = market shock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A[h,s] = AI/TMT-excess shock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Rule = use override when ticker matches; otherwise use bucket row</a:t>
            </a:r>
            <a:endParaRPr lang="en-US" sz="1050" dirty="0"/>
          </a:p>
        </p:txBody>
      </p:sp>
      <p:pic>
        <p:nvPicPr>
          <p:cNvPr id="11" name="Image 0" descr="/mnt/data/theory_deck_senior_mgmt/20_production_hierarc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948965"/>
            <a:ext cx="5257800" cy="273147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63640" y="1828800"/>
            <a:ext cx="5257800" cy="2971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6016752"/>
            <a:ext cx="1106424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7D4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The override layer improves precision without changing the underlying theory.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how the pieces add up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stress is transparent: market leg + AI leg + size overlay.</a:t>
            </a:r>
            <a:endParaRPr lang="en-US" sz="1150" dirty="0"/>
          </a:p>
        </p:txBody>
      </p:sp>
      <p:pic>
        <p:nvPicPr>
          <p:cNvPr id="6" name="Image 0" descr="/mnt/data/theory_deck_senior_mgmt/13_worked_example_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188" y="1097280"/>
            <a:ext cx="7264345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097280"/>
            <a:ext cx="9144000" cy="4572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12680" y="16002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Example variables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012680" y="1874520"/>
            <a:ext cx="178308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</a:rPr>
              <a:t>bucket j = Korea technology hardware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</a:rPr>
              <a:t>scenario s = 2m extreme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</a:rPr>
              <a:t>market-cap m = micro-cap bucket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12B"/>
                </a:solidFill>
              </a:rPr>
              <a:t>final shock = sum of log components, then converted to simple return</a:t>
            </a:r>
            <a:endParaRPr lang="en-US" sz="920" dirty="0"/>
          </a:p>
        </p:txBody>
      </p:sp>
      <p:sp>
        <p:nvSpPr>
          <p:cNvPr id="10" name="Text 7"/>
          <p:cNvSpPr/>
          <p:nvPr/>
        </p:nvSpPr>
        <p:spPr>
          <a:xfrm>
            <a:off x="566928" y="6016752"/>
            <a:ext cx="1106424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7D4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This is the easiest way to explain the model verbally: three additive pieces create the final shock.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shocks: scenario severity is intuitive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NASDAQ and AI-linked regions receive larger shocks than broad world equity.</a:t>
            </a:r>
            <a:endParaRPr lang="en-US" sz="1150" dirty="0"/>
          </a:p>
        </p:txBody>
      </p:sp>
      <p:pic>
        <p:nvPicPr>
          <p:cNvPr id="6" name="Image 0" descr="/mnt/data/theory_deck_senior_mgmt/13_sample_shocks_grouped_2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7284" y="1078992"/>
            <a:ext cx="8401231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78992"/>
            <a:ext cx="11201400" cy="4754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016752"/>
            <a:ext cx="1106424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7D4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The output hierarchy is intuitive: broad market &lt; international AI-linked regions &lt; AI epicentre proxy.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shocks: horizon scaling is also intuitive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Worst-case shocks grow as the horizon extends from 1w to 2m.</a:t>
            </a:r>
            <a:endParaRPr lang="en-US" sz="1150" dirty="0"/>
          </a:p>
        </p:txBody>
      </p:sp>
      <p:pic>
        <p:nvPicPr>
          <p:cNvPr id="6" name="Image 0" descr="/mnt/data/theory_deck_senior_mgmt/14_sample_shocks_by_horizon_wor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9378" y="1078992"/>
            <a:ext cx="8437043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078992"/>
            <a:ext cx="10927080" cy="4754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016752"/>
            <a:ext cx="1106424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7D4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The model supports margin-relevant short horizons while preserving a longer-horizon stress view.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checks that make the theory operationally safe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stress engine is built to avoid obvious incoherence.</a:t>
            </a:r>
            <a:endParaRPr lang="en-US" sz="1150" dirty="0"/>
          </a:p>
        </p:txBody>
      </p:sp>
      <p:pic>
        <p:nvPicPr>
          <p:cNvPr id="6" name="Image 0" descr="/mnt/data/theory_deck_senior_mgmt/22_overlay_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0929"/>
            <a:ext cx="5943600" cy="416695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024128"/>
            <a:ext cx="5943600" cy="4480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12280" y="1325880"/>
            <a:ext cx="438912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Orthogonal AI factor has near-zero market correlation after residualization.</a:t>
            </a:r>
            <a:endParaRPr lang="en-US" sz="1220" dirty="0"/>
          </a:p>
          <a:p>
            <a:r>
              <a:rPr lang="en-US" sz="12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Market-cap overlay never makes stress less severe.</a:t>
            </a:r>
            <a:endParaRPr lang="en-US" sz="1220" dirty="0"/>
          </a:p>
          <a:p>
            <a:r>
              <a:rPr lang="en-US" sz="12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/ mega-cap reference bucket stays unchanged by cap overlay.</a:t>
            </a:r>
            <a:endParaRPr lang="en-US" sz="1220" dirty="0"/>
          </a:p>
          <a:p>
            <a:r>
              <a:rPr lang="en-US" sz="12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Single-stock overrides use the same factor structure as country-industry rows.</a:t>
            </a:r>
            <a:endParaRPr lang="en-US" sz="1220" dirty="0"/>
          </a:p>
          <a:p>
            <a:r>
              <a:rPr lang="en-US" sz="122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 are ordered: mild &lt; base &lt; severe &lt; extreme &lt; worst.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566928" y="6016752"/>
            <a:ext cx="1106424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7D4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The model is explainable, but also mechanically constrained to behave sensibly.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production formula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complete theory in one line, with every variable labelled.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10972800" cy="777240"/>
          </a:xfrm>
          <a:prstGeom prst="rect">
            <a:avLst/>
          </a:prstGeom>
          <a:solidFill>
            <a:srgbClr val="F7F9FC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S[j,m,h,s] = betaW[j] · M[h,s] + IAI[j] · A[h,s] + Psize[m,h,s]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Variable labels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530352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S[j,m,h,s] = final log stress return applied to a position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j = country-industry bucket, j = (country b, industry 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m = market-cap bucket for the position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h = stress horizon: 1w / 2w / 1m / 2m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s = scenario: mild / base / severe / extreme / worst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63640" y="22402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 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63640" y="2514600"/>
            <a:ext cx="530352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betaW[j] = world market beta of country-industry bucket j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M[h,s] = broad-market shock from dot-com calibration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IAI[j] = final AI-excess intensity after orthogonalization and economic blending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A[h,s] = AI/TMT-excess shock from dot-com calibration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Psize[m,h,s] = market-cap overlay penalty from size-portfolio calibration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6016752"/>
            <a:ext cx="1106424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7D4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All pieces are linked: exposure estimates decide sensitivity, dot-com calibrates shock size, overlays refine application.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theory maps to actual use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hierarchy avoids ambiguity when applying shocks.</a:t>
            </a:r>
            <a:endParaRPr lang="en-US" sz="1150" dirty="0"/>
          </a:p>
        </p:txBody>
      </p:sp>
      <p:pic>
        <p:nvPicPr>
          <p:cNvPr id="6" name="Image 0" descr="/mnt/data/theory_deck_senior_mgmt/20_production_hierarc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27781"/>
            <a:ext cx="5669280" cy="294523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051560"/>
            <a:ext cx="5669280" cy="4297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0" y="1417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5AA8"/>
                </a:solidFill>
              </a:rPr>
              <a:t>Application rule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675120" y="1691640"/>
            <a:ext cx="4480560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12B"/>
                </a:solidFill>
              </a:rPr>
              <a:t>1 = If ticker is in the override file, use single-stock override.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7212B"/>
                </a:solidFill>
              </a:rPr>
              <a:t>2 = Otherwise map position to country-industry bucket j.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7212B"/>
                </a:solidFill>
              </a:rPr>
              <a:t>3 = Assign market-cap bucket m from position market cap.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7212B"/>
                </a:solidFill>
              </a:rPr>
              <a:t>4 = Select horizon h and scenario s.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7212B"/>
                </a:solidFill>
              </a:rPr>
              <a:t>5 = Use S[j,m,h,s] as the log stress return.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7212B"/>
                </a:solidFill>
              </a:rPr>
              <a:t>6 = Convert to simple return: exp(S) − 1.</a:t>
            </a: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6720840" y="4983480"/>
            <a:ext cx="4343400" cy="502920"/>
          </a:xfrm>
          <a:prstGeom prst="rect">
            <a:avLst/>
          </a:prstGeom>
          <a:solidFill>
            <a:srgbClr val="F7F9FC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simple return = exp(S[j,m,h,s]) − 1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66928" y="6016752"/>
            <a:ext cx="1106424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7D4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The theory ends in a concrete, auditable stress-return lookup.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unwind stress model | theory section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takeaways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713232"/>
            <a:ext cx="10972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theory is coherent because each step creates the input needed by the next step.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69848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starts with a clean decomposition: market selloff plus AI/TMT-excess selloff.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Orthogonalization is the key theoretical step: it removes market contamination from AI exposure.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Country-industry shocks are exposure times scenario, not hand-selected percentages.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Dot-com history anchors the shock magnitude; severity scalars create the scenario ladder.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Market-cap penalties and single-stock overrides improve real-book applicability without changing the core theory.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5166360"/>
            <a:ext cx="10744200" cy="594360"/>
          </a:xfrm>
          <a:prstGeom prst="rect">
            <a:avLst/>
          </a:prstGeom>
          <a:solidFill>
            <a:srgbClr val="F7F9FC"/>
          </a:solidFill>
          <a:ln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leg + AI-excess leg + targeted overlays → implementable stress vector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66928" y="6016752"/>
            <a:ext cx="1106424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7D4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</a:rPr>
              <a:t>The framework is designed to be rigorous enough for model discussion and simple enough for management use.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Unwind Stress Model Theory Deck</dc:title>
  <dc:subject>AI Unwind Stress Model Theory</dc:subject>
  <dc:creator>OpenAI</dc:creator>
  <cp:lastModifiedBy>OpenAI</cp:lastModifiedBy>
  <cp:revision>1</cp:revision>
  <dcterms:created xsi:type="dcterms:W3CDTF">2026-07-17T00:50:21Z</dcterms:created>
  <dcterms:modified xsi:type="dcterms:W3CDTF">2026-07-17T00:50:21Z</dcterms:modified>
</cp:coreProperties>
</file>